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Online Adaptive Early Warning System Under Concept Drift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BTech Project Presentation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Problem and motivation</a:t>
            </a:r>
          </a:p>
          <a:p>
            <a:pPr>
              <a:defRPr sz="2200"/>
            </a:pPr>
            <a:r>
              <a:t>Theory: critical transitions and drift</a:t>
            </a:r>
          </a:p>
          <a:p>
            <a:pPr>
              <a:defRPr sz="2200"/>
            </a:pPr>
            <a:r>
              <a:t>System architecture and methods</a:t>
            </a:r>
          </a:p>
          <a:p>
            <a:pPr>
              <a:defRPr sz="2200"/>
            </a:pPr>
            <a:r>
              <a:t>Validation and current results</a:t>
            </a:r>
          </a:p>
          <a:p>
            <a:pPr>
              <a:defRPr sz="2200"/>
            </a:pPr>
            <a:r>
              <a:t>Limitations and next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Goal: detect approaching critical transitions in streaming time series</a:t>
            </a:r>
          </a:p>
          <a:p>
            <a:pPr>
              <a:defRPr sz="2200"/>
            </a:pPr>
            <a:r>
              <a:t>Challenge: data distribution changes over time (concept drift)</a:t>
            </a:r>
          </a:p>
          <a:p>
            <a:pPr>
              <a:defRPr sz="2200"/>
            </a:pPr>
            <a:r>
              <a:t>Key ambiguity: drift signatures can resemble true collapse signatures</a:t>
            </a:r>
          </a:p>
          <a:p>
            <a:pPr>
              <a:defRPr sz="2200"/>
            </a:pPr>
            <a:r>
              <a:t>Research objective: robust, adaptive, and measurable early warning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Real systems are nonstationary: climate, ecology, infrastructure, finance</a:t>
            </a:r>
          </a:p>
          <a:p>
            <a:pPr>
              <a:defRPr sz="2200"/>
            </a:pPr>
            <a:r>
              <a:t>False alarms are costly; missed collapse warnings are dangerous</a:t>
            </a:r>
          </a:p>
          <a:p>
            <a:pPr>
              <a:defRPr sz="2200"/>
            </a:pPr>
            <a:r>
              <a:t>Static models fail under shift; adaptive systems risk overreacting</a:t>
            </a:r>
          </a:p>
          <a:p>
            <a:pPr>
              <a:defRPr sz="2200"/>
            </a:pPr>
            <a:r>
              <a:t>We need benchmarked methods with clear uncertainty and failure modes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Theoretical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Critical transitions occur near bifurcation points</a:t>
            </a:r>
          </a:p>
          <a:p>
            <a:pPr>
              <a:defRPr sz="2200"/>
            </a:pPr>
            <a:r>
              <a:t>Critical slowing down causes rising variance and lag-1 autocorrelation</a:t>
            </a:r>
          </a:p>
          <a:p>
            <a:pPr>
              <a:defRPr sz="2200"/>
            </a:pPr>
            <a:r>
              <a:t>Classical EWS uses these indicators as collapse precursors</a:t>
            </a:r>
          </a:p>
          <a:p>
            <a:pPr>
              <a:defRPr sz="2200"/>
            </a:pPr>
            <a:r>
              <a:t>Concept drift can also change variance/autocorrelation, causing confounding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Dynamical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Fold bifurcation: dx/dt = r - x^2 - gamma*x^4 + noise</a:t>
            </a:r>
          </a:p>
          <a:p>
            <a:pPr>
              <a:defRPr sz="2200"/>
            </a:pPr>
            <a:r>
              <a:t>Saddle-node style: dx/dt = r + x - x^3 + noise</a:t>
            </a:r>
          </a:p>
          <a:p>
            <a:pPr>
              <a:defRPr sz="2200"/>
            </a:pPr>
            <a:r>
              <a:t>Hopf bifurcation: coupled 2D system with oscillatory transition</a:t>
            </a:r>
          </a:p>
          <a:p>
            <a:pPr>
              <a:defRPr sz="2200"/>
            </a:pPr>
            <a:r>
              <a:t>Three phases per trajectory: stable, approaching, post-transition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Labeling and Learning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Regime labels: 0 (stable), 1 (approaching), 2 (post-transition)</a:t>
            </a:r>
          </a:p>
          <a:p>
            <a:pPr>
              <a:defRPr sz="2200"/>
            </a:pPr>
            <a:r>
              <a:t>Model target mapping: 0-&gt;0.0, 1-&gt;0.5, 2-&gt;1.0</a:t>
            </a:r>
          </a:p>
          <a:p>
            <a:pPr>
              <a:defRPr sz="2200"/>
            </a:pPr>
            <a:r>
              <a:t>Output is a continuous warning score in [0,1]</a:t>
            </a:r>
          </a:p>
          <a:p>
            <a:pPr>
              <a:defRPr sz="2200"/>
            </a:pPr>
            <a:r>
              <a:t>Important: labels are phase labels, not exact tipping instant labels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Controlled Drift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Shared ramp(t) controls gradual drift progression from 0 to 1</a:t>
            </a:r>
          </a:p>
          <a:p>
            <a:pPr>
              <a:defRPr sz="2200"/>
            </a:pPr>
            <a:r>
              <a:t>Mean drift: additive shift scaled by magnitude</a:t>
            </a:r>
          </a:p>
          <a:p>
            <a:pPr>
              <a:defRPr sz="2200"/>
            </a:pPr>
            <a:r>
              <a:t>Variance drift: amplitude scaling around reference mean</a:t>
            </a:r>
          </a:p>
          <a:p>
            <a:pPr>
              <a:defRPr sz="2200"/>
            </a:pPr>
            <a:r>
              <a:t>Noise drift, autocorrelation drift, and control-parameter drift also supported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Drift Injection Mathematics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Mean: x_t' = x_t + ramp(t) * (magnitude * Delta_mu)</a:t>
            </a:r>
          </a:p>
          <a:p>
            <a:pPr>
              <a:defRPr sz="2200"/>
            </a:pPr>
            <a:r>
              <a:t>Variance: x_t' = mu + s(t) * (x_t - mu)</a:t>
            </a:r>
          </a:p>
          <a:p>
            <a:pPr>
              <a:defRPr sz="2200"/>
            </a:pPr>
            <a:r>
              <a:t>Noise: x_t' = x_t + epsilon_t, epsilon_t ~ N(0, sigma(t)^2)</a:t>
            </a:r>
          </a:p>
          <a:p>
            <a:pPr>
              <a:defRPr sz="2200"/>
            </a:pPr>
            <a:r>
              <a:t>Autocorr: x_t' = (1-rho(t))*x_t + rho(t)*x_{t-1}; Control: r_t' = r_t + ramp(t)*Delta_r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1: Classical EWS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Rolling variance and rolling lag-1 autocorrelation</a:t>
            </a:r>
          </a:p>
          <a:p>
            <a:pPr>
              <a:defRPr sz="2200"/>
            </a:pPr>
            <a:r>
              <a:t>Normalized and combined with equal weighting</a:t>
            </a:r>
          </a:p>
          <a:p>
            <a:pPr>
              <a:defRPr sz="2200"/>
            </a:pPr>
            <a:r>
              <a:t>Pros: interpretable, theory-aligned</a:t>
            </a:r>
          </a:p>
          <a:p>
            <a:pPr>
              <a:defRPr sz="2200"/>
            </a:pPr>
            <a:r>
              <a:t>Cons: weak under complex nonlinearity and drift confounding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2: Offline CNN-LSTM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Conv1D layers extract local temporal features</a:t>
            </a:r>
          </a:p>
          <a:p>
            <a:pPr>
              <a:defRPr sz="2200"/>
            </a:pPr>
            <a:r>
              <a:t>LSTM captures temporal dependencies in windows</a:t>
            </a:r>
          </a:p>
          <a:p>
            <a:pPr>
              <a:defRPr sz="2200"/>
            </a:pPr>
            <a:r>
              <a:t>Trained once on stationary synthetic data</a:t>
            </a:r>
          </a:p>
          <a:p>
            <a:pPr>
              <a:defRPr sz="2200"/>
            </a:pPr>
            <a:r>
              <a:t>Limitation: no mechanism to adapt under distribution drift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3: Online Adaptive CNN-LSTM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Initialized from offline model and run in streaming mode</a:t>
            </a:r>
          </a:p>
          <a:p>
            <a:pPr>
              <a:defRPr sz="2200"/>
            </a:pPr>
            <a:r>
              <a:t>Buffer recent windows and fine-tune when drift is detected</a:t>
            </a:r>
          </a:p>
          <a:p>
            <a:pPr>
              <a:defRPr sz="2200"/>
            </a:pPr>
            <a:r>
              <a:t>Stability controls: cooldown, small LR, limited epochs</a:t>
            </a:r>
          </a:p>
          <a:p>
            <a:pPr>
              <a:defRPr sz="2200"/>
            </a:pPr>
            <a:r>
              <a:t>Trade-off: adaptivity vs. false adaptation and forgetting risk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Pluggable Drift Detector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Unified detector API: update(value), reset(), reset_baseline(), get_state()</a:t>
            </a:r>
          </a:p>
          <a:p>
            <a:pPr>
              <a:defRPr sz="2200"/>
            </a:pPr>
            <a:r>
              <a:t>Implemented detectors: Variance, ADWIN, CUSUM, Page-Hinkley</a:t>
            </a:r>
          </a:p>
          <a:p>
            <a:pPr>
              <a:defRPr sz="2200"/>
            </a:pPr>
            <a:r>
              <a:t>Any detector can be plugged into the online model without changing core adaptation logic</a:t>
            </a:r>
          </a:p>
          <a:p>
            <a:pPr>
              <a:defRPr sz="2200"/>
            </a:pPr>
            <a:r>
              <a:t>Enables controlled detector comparison experiments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Detector Algorithm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ADWIN: adaptive window split test with significance bound</a:t>
            </a:r>
          </a:p>
          <a:p>
            <a:pPr>
              <a:defRPr sz="2200"/>
            </a:pPr>
            <a:r>
              <a:t>CUSUM: cumulative evidence for persistent mean shift with thresholds</a:t>
            </a:r>
          </a:p>
          <a:p>
            <a:pPr>
              <a:defRPr sz="2200"/>
            </a:pPr>
            <a:r>
              <a:t>Page-Hinkley: cumulative deviation from running mean</a:t>
            </a:r>
          </a:p>
          <a:p>
            <a:pPr>
              <a:defRPr sz="2200"/>
            </a:pPr>
            <a:r>
              <a:t>Variance detector: variance spike relative to baseline window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Drift Quantification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Wasserstein distance: transport cost between distributions</a:t>
            </a:r>
          </a:p>
          <a:p>
            <a:pPr>
              <a:defRPr sz="2200"/>
            </a:pPr>
            <a:r>
              <a:t>KL divergence: information mismatch D_KL(P||Q)</a:t>
            </a:r>
          </a:p>
          <a:p>
            <a:pPr>
              <a:defRPr sz="2200"/>
            </a:pPr>
            <a:r>
              <a:t>MMD: kernel two-sample distance for higher-order differences</a:t>
            </a:r>
          </a:p>
          <a:p>
            <a:pPr>
              <a:defRPr sz="2200"/>
            </a:pPr>
            <a:r>
              <a:t>Moment shifts: absolute mean shift and variance shift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EWS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Lead Time: collapse_time - first pre-collapse persistent alarm</a:t>
            </a:r>
          </a:p>
          <a:p>
            <a:pPr>
              <a:defRPr sz="2200"/>
            </a:pPr>
            <a:r>
              <a:t>False Alarm Rate: alarm density in pre-warning region</a:t>
            </a:r>
          </a:p>
          <a:p>
            <a:pPr>
              <a:defRPr sz="2200"/>
            </a:pPr>
            <a:r>
              <a:t>Regime Separation: standardized mean difference between stable and pre-collapse windows</a:t>
            </a:r>
          </a:p>
          <a:p>
            <a:pPr>
              <a:defRPr sz="2200"/>
            </a:pPr>
            <a:r>
              <a:t>Batch evaluator supports per-series and aggregate reporting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Validation scripts now clean, reproducible, and Windows-safe</a:t>
            </a:r>
          </a:p>
          <a:p>
            <a:pPr>
              <a:defRPr sz="2200"/>
            </a:pPr>
            <a:r>
              <a:t>Outputs include fresh logs and figures in validation/outputs</a:t>
            </a:r>
          </a:p>
          <a:p>
            <a:pPr>
              <a:defRPr sz="2200"/>
            </a:pPr>
            <a:r>
              <a:t>Validated: generators, drift metrics, detectors, and EWS metrics</a:t>
            </a:r>
          </a:p>
          <a:p>
            <a:pPr>
              <a:defRPr sz="2200"/>
            </a:pPr>
            <a:r>
              <a:t>Removed stale/duplicate output files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Validation Result: Drift Generators</a:t>
            </a:r>
          </a:p>
        </p:txBody>
      </p:sp>
      <p:pic>
        <p:nvPicPr>
          <p:cNvPr id="3" name="Picture 2" descr="drift_gener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0972800" cy="81564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All generator checks passed: mean drift, variance drift, and control-parameter drift behave as expected.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Validation Result: Drift Metrics</a:t>
            </a:r>
          </a:p>
        </p:txBody>
      </p:sp>
      <p:pic>
        <p:nvPicPr>
          <p:cNvPr id="3" name="Picture 2" descr="drif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0972800" cy="38859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All checks passed: near-zero on identical distributions and monotonic trend with drift severity.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Validation Result: Drift Detectors</a:t>
            </a:r>
          </a:p>
        </p:txBody>
      </p:sp>
      <p:pic>
        <p:nvPicPr>
          <p:cNvPr id="3" name="Picture 2" descr="drift_det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0972800" cy="85241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All detectors detected shift in time; false alarm behavior differs by detector and parameter settings.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Validation Result: EWS Metrics</a:t>
            </a:r>
          </a:p>
        </p:txBody>
      </p:sp>
      <p:pic>
        <p:nvPicPr>
          <p:cNvPr id="3" name="Picture 2" descr="ew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0972800" cy="66929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17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All checks passed: lead-time behavior, FAR monotonicity, and regime-separation monotonicity.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Research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Offline models degrade significantly under drift</a:t>
            </a:r>
          </a:p>
          <a:p>
            <a:pPr>
              <a:defRPr sz="2200"/>
            </a:pPr>
            <a:r>
              <a:t>Online adaptation improves robustness but does not fully resolve drift-vs-collapse ambiguity</a:t>
            </a:r>
          </a:p>
          <a:p>
            <a:pPr>
              <a:defRPr sz="2200"/>
            </a:pPr>
            <a:r>
              <a:t>Detector tuning strongly affects false alarm behavior</a:t>
            </a:r>
          </a:p>
          <a:p>
            <a:pPr>
              <a:defRPr sz="2200"/>
            </a:pPr>
            <a:r>
              <a:t>Main challenge is separability between distributional shift and genuine critical transition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(Honest Assessment)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Current synthetic benchmark still limited in drift realism combinations</a:t>
            </a:r>
          </a:p>
          <a:p>
            <a:pPr>
              <a:defRPr sz="2200"/>
            </a:pPr>
            <a:r>
              <a:t>Detector thresholds are not globally optimized</a:t>
            </a:r>
          </a:p>
          <a:p>
            <a:pPr>
              <a:defRPr sz="2200"/>
            </a:pPr>
            <a:r>
              <a:t>Real-world validation currently narrow (Delhi 2015 track)</a:t>
            </a:r>
          </a:p>
          <a:p>
            <a:pPr>
              <a:defRPr sz="2200"/>
            </a:pPr>
            <a:r>
              <a:t>Need stronger uncertainty estimation and confidence calibration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Phase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Build full benchmark grid: drift type x drift magnitude x model x detector</a:t>
            </a:r>
          </a:p>
          <a:p>
            <a:pPr>
              <a:defRPr sz="2200"/>
            </a:pPr>
            <a:r>
              <a:t>Quantify drift severity and correlate with EWS failure modes</a:t>
            </a:r>
          </a:p>
          <a:p>
            <a:pPr>
              <a:defRPr sz="2200"/>
            </a:pPr>
            <a:r>
              <a:t>Develop failure taxonomy: false collapse alarms vs missed true transitions</a:t>
            </a:r>
          </a:p>
          <a:p>
            <a:pPr>
              <a:defRPr sz="2200"/>
            </a:pPr>
            <a:r>
              <a:t>Propose drift-aware warning logic and evaluate on broader real datasets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Contributions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End-to-end pipeline: synthetic dynamics -&gt; model -&gt; adaptation -&gt; evaluation</a:t>
            </a:r>
          </a:p>
          <a:p>
            <a:pPr>
              <a:defRPr sz="2200"/>
            </a:pPr>
            <a:r>
              <a:t>Controlled drift injection framework with modular drift operators</a:t>
            </a:r>
          </a:p>
          <a:p>
            <a:pPr>
              <a:defRPr sz="2200"/>
            </a:pPr>
            <a:r>
              <a:t>Pluggable drift detector architecture</a:t>
            </a:r>
          </a:p>
          <a:p>
            <a:pPr>
              <a:defRPr sz="2200"/>
            </a:pPr>
            <a:r>
              <a:t>Reusable drift and EWS metric modules with validated diagnostics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 and discussion</a:t>
            </a:r>
          </a:p>
          <a:p>
            <a:pPr>
              <a:defRPr sz="2200"/>
            </a:pPr>
            <a:r>
              <a:t>Focus points: methodology rigor, detector behavior, and next benchmark experiments</a:t>
            </a:r>
          </a:p>
          <a:p>
            <a:pPr>
              <a:defRPr sz="2200"/>
            </a:pPr>
            <a:r>
              <a:t>Project path: from prototype to systematic research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